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548640"/>
            <a:ext cx="3200400" cy="3200400"/>
          </a:xfrm>
          <a:prstGeom prst="ellipse">
            <a:avLst/>
          </a:prstGeom>
          <a:solidFill>
            <a:srgbClr val="1E2D4A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182880"/>
            <a:ext cx="1828800" cy="1828800"/>
          </a:xfrm>
          <a:prstGeom prst="ellipse">
            <a:avLst/>
          </a:prstGeom>
          <a:solidFill>
            <a:srgbClr val="0F8B8D">
              <a:alpha val="4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45720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82296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EXPENSE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365760" y="16002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800" kern="0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BATTLE</a:t>
            </a:r>
            <a:endParaRPr lang="en-US" sz="6400" dirty="0"/>
          </a:p>
        </p:txBody>
      </p:sp>
      <p:sp>
        <p:nvSpPr>
          <p:cNvPr id="8" name="Text 5"/>
          <p:cNvSpPr/>
          <p:nvPr/>
        </p:nvSpPr>
        <p:spPr>
          <a:xfrm>
            <a:off x="365760" y="2560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Compete. Save. Win.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65760" y="3154680"/>
            <a:ext cx="4114800" cy="36576"/>
          </a:xfrm>
          <a:prstGeom prst="rect">
            <a:avLst/>
          </a:prstGeom>
          <a:solidFill>
            <a:srgbClr val="8892A4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32918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gamified savings app that turns budgeting into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friendly competition among friends.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65760" y="4297680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E94560"/>
          </a:solidFill>
          <a:ln/>
        </p:spPr>
      </p:sp>
      <p:sp>
        <p:nvSpPr>
          <p:cNvPr id="12" name="Text 9"/>
          <p:cNvSpPr/>
          <p:nvPr/>
        </p:nvSpPr>
        <p:spPr>
          <a:xfrm>
            <a:off x="365760" y="43159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Track 1: Gamifying Finance &amp; Financial Education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840480" cy="3200400"/>
          </a:xfrm>
          <a:prstGeom prst="rect">
            <a:avLst/>
          </a:prstGeom>
          <a:solidFill>
            <a:srgbClr val="1E2D4A"/>
          </a:solidFill>
          <a:ln/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8872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77%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365760" y="260604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Indians live paycheck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paycheck with no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plan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0" y="1005840"/>
            <a:ext cx="4206240" cy="100584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0" y="1005840"/>
            <a:ext cx="73152" cy="10058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😩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94960" y="1097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Budgeting apps are boring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94960" y="1508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engagement, high churn rates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2148840"/>
            <a:ext cx="4206240" cy="100584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2148840"/>
            <a:ext cx="73152" cy="10058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😶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9496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accountability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94960" y="2651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give up without social pressure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3291840"/>
            <a:ext cx="4206240" cy="100584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0" y="3291840"/>
            <a:ext cx="73152" cy="10058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394960" y="3383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Scattered finances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94960" y="3794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place to track + compete + learn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Duolingo × Splitwise — but for saving money.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1371600" cy="137160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6916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82880" y="3063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Budget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737360" y="2212848"/>
            <a:ext cx="731520" cy="54864"/>
          </a:xfrm>
          <a:prstGeom prst="rect">
            <a:avLst/>
          </a:prstGeom>
          <a:solidFill>
            <a:srgbClr val="8892A4"/>
          </a:solidFill>
          <a:ln/>
        </p:spPr>
      </p:sp>
      <p:sp>
        <p:nvSpPr>
          <p:cNvPr id="9" name="Text 7"/>
          <p:cNvSpPr/>
          <p:nvPr/>
        </p:nvSpPr>
        <p:spPr>
          <a:xfrm>
            <a:off x="1783080" y="2011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2A4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468880" y="1600200"/>
            <a:ext cx="1371600" cy="137160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16916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286000" y="3063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Spend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40480" y="2212848"/>
            <a:ext cx="731520" cy="54864"/>
          </a:xfrm>
          <a:prstGeom prst="rect">
            <a:avLst/>
          </a:prstGeom>
          <a:solidFill>
            <a:srgbClr val="8892A4"/>
          </a:solidFill>
          <a:ln/>
        </p:spPr>
      </p:sp>
      <p:sp>
        <p:nvSpPr>
          <p:cNvPr id="14" name="Text 12"/>
          <p:cNvSpPr/>
          <p:nvPr/>
        </p:nvSpPr>
        <p:spPr>
          <a:xfrm>
            <a:off x="3886200" y="2011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2A4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0" y="1600200"/>
            <a:ext cx="1371600" cy="13716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16916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⭐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389120" y="3063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 Points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0" y="2212848"/>
            <a:ext cx="731520" cy="54864"/>
          </a:xfrm>
          <a:prstGeom prst="rect">
            <a:avLst/>
          </a:prstGeom>
          <a:solidFill>
            <a:srgbClr val="8892A4"/>
          </a:solidFill>
          <a:ln/>
        </p:spPr>
      </p:sp>
      <p:sp>
        <p:nvSpPr>
          <p:cNvPr id="19" name="Text 17"/>
          <p:cNvSpPr/>
          <p:nvPr/>
        </p:nvSpPr>
        <p:spPr>
          <a:xfrm>
            <a:off x="5989320" y="2011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2A4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675120" y="1600200"/>
            <a:ext cx="1371600" cy="137160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16916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🏆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492240" y="3063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 Friends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794760"/>
            <a:ext cx="8412480" cy="7772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38862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"More disciplined the user is, smarter the app becomes"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651760" cy="1691640"/>
          </a:xfrm>
          <a:prstGeom prst="rect">
            <a:avLst/>
          </a:prstGeom>
          <a:solidFill>
            <a:srgbClr val="1E2D4A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651760" cy="6400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43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⚔️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74320" y="16459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Challenges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No-Spend Days, Grocery Battles, Dining Duels — new challenges every Monday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651760" cy="1691640"/>
          </a:xfrm>
          <a:prstGeom prst="rect">
            <a:avLst/>
          </a:prstGeom>
          <a:solidFill>
            <a:srgbClr val="1E2D4A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05840"/>
            <a:ext cx="2651760" cy="6400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143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🏆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200400" y="16459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Leaderboard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20116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ranking, Top Savers, Most Improved &amp; Challenge Champions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651760" cy="1691640"/>
          </a:xfrm>
          <a:prstGeom prst="rect">
            <a:avLst/>
          </a:prstGeom>
          <a:solidFill>
            <a:srgbClr val="1E2D4A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05840"/>
            <a:ext cx="2651760" cy="6400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143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🔥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126480" y="16459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Streak Rewards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20116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saving streaks to unlock badges, features &amp; real-world rewards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2651760" cy="1691640"/>
          </a:xfrm>
          <a:prstGeom prst="rect">
            <a:avLst/>
          </a:prstGeom>
          <a:solidFill>
            <a:srgbClr val="1E2D4A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26080"/>
            <a:ext cx="2651760" cy="6400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3063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274320" y="35661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Layer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39319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friends (+50 pts), 1v1 duels, group chat &amp; social media sharing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2926080"/>
            <a:ext cx="2651760" cy="1691640"/>
          </a:xfrm>
          <a:prstGeom prst="rect">
            <a:avLst/>
          </a:prstGeom>
          <a:solidFill>
            <a:srgbClr val="1E2D4A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926080"/>
            <a:ext cx="2651760" cy="6400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0" y="3063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💳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200400" y="35661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System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1840" y="39319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10pts per 10% under budget, bonus points for challenges + multiplier weeks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26480" y="2926080"/>
            <a:ext cx="2651760" cy="1691640"/>
          </a:xfrm>
          <a:prstGeom prst="rect">
            <a:avLst/>
          </a:prstGeom>
          <a:solidFill>
            <a:srgbClr val="1E2D4A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926080"/>
            <a:ext cx="2651760" cy="6400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1" name="Text 29"/>
          <p:cNvSpPr/>
          <p:nvPr/>
        </p:nvSpPr>
        <p:spPr>
          <a:xfrm>
            <a:off x="6126480" y="3063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🔔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126480" y="35661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Notifications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17920" y="39319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reminders, streak alerts, leaderboard updates &amp; spending nudges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8B8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834640" cy="397764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914400"/>
            <a:ext cx="283464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338328" y="1005840"/>
            <a:ext cx="2615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 Referral Codes — Invite friends, both earn bonus XP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38328" y="1609344"/>
            <a:ext cx="2615184" cy="18288"/>
          </a:xfrm>
          <a:prstGeom prst="rect">
            <a:avLst/>
          </a:prstGeom>
          <a:solidFill>
            <a:srgbClr val="2A3A55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" y="1645920"/>
            <a:ext cx="2615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FD Integration — Park savings in FDs, earn interest passively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8328" y="2249424"/>
            <a:ext cx="2615184" cy="18288"/>
          </a:xfrm>
          <a:prstGeom prst="rect">
            <a:avLst/>
          </a:prstGeom>
          <a:solidFill>
            <a:srgbClr val="2A3A55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" y="2286000"/>
            <a:ext cx="2615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💹  Interest Tracker — Watch your money grow in real-time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8328" y="2889504"/>
            <a:ext cx="2615184" cy="18288"/>
          </a:xfrm>
          <a:prstGeom prst="rect">
            <a:avLst/>
          </a:prstGeom>
          <a:solidFill>
            <a:srgbClr val="2A3A55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" y="2926080"/>
            <a:ext cx="2615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🃏  Scratchcards &amp; Vouchers — Redeem points for rewards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8328" y="3529584"/>
            <a:ext cx="2615184" cy="18288"/>
          </a:xfrm>
          <a:prstGeom prst="rect">
            <a:avLst/>
          </a:prstGeom>
          <a:solidFill>
            <a:srgbClr val="2A3A55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" y="3566160"/>
            <a:ext cx="2615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Charity Donations — Donate points to causes you care about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8328" y="4169664"/>
            <a:ext cx="2615184" cy="18288"/>
          </a:xfrm>
          <a:prstGeom prst="rect">
            <a:avLst/>
          </a:prstGeom>
          <a:solidFill>
            <a:srgbClr val="2A3A55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" y="4206240"/>
            <a:ext cx="2615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  Bill Split — Split expenses with group members instantly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0" y="914400"/>
            <a:ext cx="2834640" cy="397764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0" y="914400"/>
            <a:ext cx="283464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9" name="Text 17"/>
          <p:cNvSpPr/>
          <p:nvPr/>
        </p:nvSpPr>
        <p:spPr>
          <a:xfrm>
            <a:off x="3310128" y="1005840"/>
            <a:ext cx="2615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Spending Insights — Personalized pattern analysis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10128" y="1609344"/>
            <a:ext cx="2615184" cy="18288"/>
          </a:xfrm>
          <a:prstGeom prst="rect">
            <a:avLst/>
          </a:prstGeom>
          <a:solidFill>
            <a:srgbClr val="2A3A55"/>
          </a:solidFill>
          <a:ln/>
        </p:spPr>
      </p:sp>
      <p:sp>
        <p:nvSpPr>
          <p:cNvPr id="21" name="Text 19"/>
          <p:cNvSpPr/>
          <p:nvPr/>
        </p:nvSpPr>
        <p:spPr>
          <a:xfrm>
            <a:off x="3310128" y="1645920"/>
            <a:ext cx="2615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AI Budgeting Plans — Dynamic plans that adapt to habits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10128" y="2249424"/>
            <a:ext cx="2615184" cy="18288"/>
          </a:xfrm>
          <a:prstGeom prst="rect">
            <a:avLst/>
          </a:prstGeom>
          <a:solidFill>
            <a:srgbClr val="2A3A55"/>
          </a:solidFill>
          <a:ln/>
        </p:spPr>
      </p:sp>
      <p:sp>
        <p:nvSpPr>
          <p:cNvPr id="23" name="Text 21"/>
          <p:cNvSpPr/>
          <p:nvPr/>
        </p:nvSpPr>
        <p:spPr>
          <a:xfrm>
            <a:off x="3310128" y="2286000"/>
            <a:ext cx="2615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Investment Tips — Curated stock &amp; MF guidance (with consent)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10128" y="2889504"/>
            <a:ext cx="2615184" cy="18288"/>
          </a:xfrm>
          <a:prstGeom prst="rect">
            <a:avLst/>
          </a:prstGeom>
          <a:solidFill>
            <a:srgbClr val="2A3A55"/>
          </a:solidFill>
          <a:ln/>
        </p:spPr>
      </p:sp>
      <p:sp>
        <p:nvSpPr>
          <p:cNvPr id="25" name="Text 23"/>
          <p:cNvSpPr/>
          <p:nvPr/>
        </p:nvSpPr>
        <p:spPr>
          <a:xfrm>
            <a:off x="3310128" y="2926080"/>
            <a:ext cx="2615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🏅  Loyalty Levels — Bronze → Silver → Gold → Platinum tiers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10128" y="3529584"/>
            <a:ext cx="2615184" cy="18288"/>
          </a:xfrm>
          <a:prstGeom prst="rect">
            <a:avLst/>
          </a:prstGeom>
          <a:solidFill>
            <a:srgbClr val="2A3A55"/>
          </a:solidFill>
          <a:ln/>
        </p:spPr>
      </p:sp>
      <p:sp>
        <p:nvSpPr>
          <p:cNvPr id="27" name="Text 25"/>
          <p:cNvSpPr/>
          <p:nvPr/>
        </p:nvSpPr>
        <p:spPr>
          <a:xfrm>
            <a:off x="3310128" y="3566160"/>
            <a:ext cx="2615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Multiplier Weeks — 2x–3x points on special challenge weeks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10128" y="4169664"/>
            <a:ext cx="2615184" cy="18288"/>
          </a:xfrm>
          <a:prstGeom prst="rect">
            <a:avLst/>
          </a:prstGeom>
          <a:solidFill>
            <a:srgbClr val="2A3A55"/>
          </a:solidFill>
          <a:ln/>
        </p:spPr>
      </p:sp>
      <p:sp>
        <p:nvSpPr>
          <p:cNvPr id="29" name="Text 27"/>
          <p:cNvSpPr/>
          <p:nvPr/>
        </p:nvSpPr>
        <p:spPr>
          <a:xfrm>
            <a:off x="3310128" y="4206240"/>
            <a:ext cx="2615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No-Spend Day Bonus — Extra XP for zero-spend days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72200" y="914400"/>
            <a:ext cx="2834640" cy="397764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31" name="Shape 29"/>
          <p:cNvSpPr/>
          <p:nvPr/>
        </p:nvSpPr>
        <p:spPr>
          <a:xfrm>
            <a:off x="6172200" y="914400"/>
            <a:ext cx="283464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2" name="Text 30"/>
          <p:cNvSpPr/>
          <p:nvPr/>
        </p:nvSpPr>
        <p:spPr>
          <a:xfrm>
            <a:off x="6281928" y="1005840"/>
            <a:ext cx="2615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🦸  Avatars — Customize your financial superhero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81928" y="1609344"/>
            <a:ext cx="2615184" cy="18288"/>
          </a:xfrm>
          <a:prstGeom prst="rect">
            <a:avLst/>
          </a:prstGeom>
          <a:solidFill>
            <a:srgbClr val="2A3A55"/>
          </a:solidFill>
          <a:ln/>
        </p:spPr>
      </p:sp>
      <p:sp>
        <p:nvSpPr>
          <p:cNvPr id="34" name="Text 32"/>
          <p:cNvSpPr/>
          <p:nvPr/>
        </p:nvSpPr>
        <p:spPr>
          <a:xfrm>
            <a:off x="6281928" y="1645920"/>
            <a:ext cx="2615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🏅  Daily Achievement Showcase — Top saver of the day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81928" y="2249424"/>
            <a:ext cx="2615184" cy="18288"/>
          </a:xfrm>
          <a:prstGeom prst="rect">
            <a:avLst/>
          </a:prstGeom>
          <a:solidFill>
            <a:srgbClr val="2A3A55"/>
          </a:solidFill>
          <a:ln/>
        </p:spPr>
      </p:sp>
      <p:sp>
        <p:nvSpPr>
          <p:cNvPr id="36" name="Text 34"/>
          <p:cNvSpPr/>
          <p:nvPr/>
        </p:nvSpPr>
        <p:spPr>
          <a:xfrm>
            <a:off x="6281928" y="2286000"/>
            <a:ext cx="2615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⌚  Smartwatch / Fitness Sync — Link fitness discipline to saving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81928" y="2889504"/>
            <a:ext cx="2615184" cy="18288"/>
          </a:xfrm>
          <a:prstGeom prst="rect">
            <a:avLst/>
          </a:prstGeom>
          <a:solidFill>
            <a:srgbClr val="2A3A55"/>
          </a:solidFill>
          <a:ln/>
        </p:spPr>
      </p:sp>
      <p:sp>
        <p:nvSpPr>
          <p:cNvPr id="38" name="Text 36"/>
          <p:cNvSpPr/>
          <p:nvPr/>
        </p:nvSpPr>
        <p:spPr>
          <a:xfrm>
            <a:off x="6281928" y="2926080"/>
            <a:ext cx="2615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Recharge — Redeem points for talk-time &amp; data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81928" y="3529584"/>
            <a:ext cx="2615184" cy="18288"/>
          </a:xfrm>
          <a:prstGeom prst="rect">
            <a:avLst/>
          </a:prstGeom>
          <a:solidFill>
            <a:srgbClr val="2A3A55"/>
          </a:solidFill>
          <a:ln/>
        </p:spPr>
      </p:sp>
      <p:sp>
        <p:nvSpPr>
          <p:cNvPr id="40" name="Text 38"/>
          <p:cNvSpPr/>
          <p:nvPr/>
        </p:nvSpPr>
        <p:spPr>
          <a:xfrm>
            <a:off x="6281928" y="3566160"/>
            <a:ext cx="2615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  Group Milestones — Hit group target → everyone wins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81928" y="4169664"/>
            <a:ext cx="2615184" cy="18288"/>
          </a:xfrm>
          <a:prstGeom prst="rect">
            <a:avLst/>
          </a:prstGeom>
          <a:solidFill>
            <a:srgbClr val="2A3A55"/>
          </a:solidFill>
          <a:ln/>
        </p:spPr>
      </p:sp>
      <p:sp>
        <p:nvSpPr>
          <p:cNvPr id="42" name="Text 40"/>
          <p:cNvSpPr/>
          <p:nvPr/>
        </p:nvSpPr>
        <p:spPr>
          <a:xfrm>
            <a:off x="6281928" y="4206240"/>
            <a:ext cx="2615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3rd-Party App Consent — Link existing apps for unified view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INTELLIGENCE LAYER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29000" y="1005840"/>
            <a:ext cx="2286000" cy="2286000"/>
          </a:xfrm>
          <a:prstGeom prst="ellipse">
            <a:avLst/>
          </a:prstGeom>
          <a:solidFill>
            <a:srgbClr val="0F8B8D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429000" y="14630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🤖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42900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Core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2743200" cy="155448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005840"/>
            <a:ext cx="54864" cy="15544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143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Spending Insights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6002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patterns, flags overspending categories, weekly summaries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675120" y="1005840"/>
            <a:ext cx="2743200" cy="155448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0" y="1005840"/>
            <a:ext cx="54864" cy="15544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812280" y="1143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Budgeting Plans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12280" y="16002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Auto-adjusts budgets monthly based on income &amp; spending history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834640"/>
            <a:ext cx="2743200" cy="155448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" y="2834640"/>
            <a:ext cx="54864" cy="1554480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971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Tips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34290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to Zerodha/Groww with user consent; curated to risk profile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675120" y="2834640"/>
            <a:ext cx="2743200" cy="155448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0" name="Shape 18"/>
          <p:cNvSpPr/>
          <p:nvPr/>
        </p:nvSpPr>
        <p:spPr>
          <a:xfrm>
            <a:off x="6675120" y="2834640"/>
            <a:ext cx="54864" cy="155448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2971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Alerts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12280" y="34290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alerts before you overspend, not after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" y="45262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Consent-first: Users grant permission to link existing financial apps for a unified intelligence view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GAMIFICATION ENGINE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LOYALTY LEVELS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1920240" cy="146304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508760"/>
            <a:ext cx="914400" cy="914400"/>
          </a:xfrm>
          <a:prstGeom prst="ellipse">
            <a:avLst/>
          </a:prstGeom>
          <a:solidFill>
            <a:srgbClr val="CD7F3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2468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0–500 pts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463040"/>
            <a:ext cx="1920240" cy="146304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10" name="Shape 8"/>
          <p:cNvSpPr/>
          <p:nvPr/>
        </p:nvSpPr>
        <p:spPr>
          <a:xfrm>
            <a:off x="2971800" y="1508760"/>
            <a:ext cx="914400" cy="914400"/>
          </a:xfrm>
          <a:prstGeom prst="ellipse">
            <a:avLst/>
          </a:prstGeom>
          <a:solidFill>
            <a:srgbClr val="C0C0C0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2468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2788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500–2K pts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1463040"/>
            <a:ext cx="1920240" cy="146304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14" name="Shape 12"/>
          <p:cNvSpPr/>
          <p:nvPr/>
        </p:nvSpPr>
        <p:spPr>
          <a:xfrm>
            <a:off x="5074920" y="1508760"/>
            <a:ext cx="914400" cy="9144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2468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2788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2K–10K pts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75120" y="1463040"/>
            <a:ext cx="1920240" cy="146304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18" name="Shape 16"/>
          <p:cNvSpPr/>
          <p:nvPr/>
        </p:nvSpPr>
        <p:spPr>
          <a:xfrm>
            <a:off x="7178040" y="1508760"/>
            <a:ext cx="914400" cy="914400"/>
          </a:xfrm>
          <a:prstGeom prst="ellipse">
            <a:avLst/>
          </a:prstGeom>
          <a:solidFill>
            <a:srgbClr val="E5E4E2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2468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Platinum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2788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10K+ pts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3246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STREAK SYSTEM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5760" y="3703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1 Wk → 5 XP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023360" y="3703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4 Wks → 20 XP + Badge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1605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8 Wks → 50 XP + Feature Unlock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023360" y="41605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12 Wks → Scratchcard Reward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246120"/>
            <a:ext cx="4023360" cy="160020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7" name="Shape 25"/>
          <p:cNvSpPr/>
          <p:nvPr/>
        </p:nvSpPr>
        <p:spPr>
          <a:xfrm>
            <a:off x="4754880" y="3246120"/>
            <a:ext cx="402336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3337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MULTIPLIER WEEKS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46320" y="37490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themed weeks with 2x–3x points on all challenges. Creates urgency, viral loops, and re-engagement for lapsed users.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8B8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FINANCIAL SERVICES LAYER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828800"/>
          </a:xfrm>
          <a:prstGeom prst="rect">
            <a:avLst/>
          </a:prstGeom>
          <a:solidFill>
            <a:srgbClr val="1E2D4A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0" cy="54864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6984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🏦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05840" y="1097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Deposits (FD)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6459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park their saved money directly into FDs from within the app. Watch interest accumulate in real-time. Partner with NBFCs or neo-banks for best rates.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14800" cy="1828800"/>
          </a:xfrm>
          <a:prstGeom prst="rect">
            <a:avLst/>
          </a:prstGeom>
          <a:solidFill>
            <a:srgbClr val="1E2D4A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60120"/>
            <a:ext cx="41148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106984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💹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440680" y="1097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 Tracker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6459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dashboard showing how savings compound over time. Motivates users to save more by showing the tangible 'future value' of their discipline.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4114800" cy="1828800"/>
          </a:xfrm>
          <a:prstGeom prst="rect">
            <a:avLst/>
          </a:prstGeom>
          <a:solidFill>
            <a:srgbClr val="1E2D4A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71800"/>
            <a:ext cx="41148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308152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005840" y="3108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Tips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36576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explicit user consent, link to Zerodha / Groww / Paytm Money APIs. Provide curated, risk-profiled stock and mutual fund suggestions.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971800"/>
            <a:ext cx="4114800" cy="1828800"/>
          </a:xfrm>
          <a:prstGeom prst="rect">
            <a:avLst/>
          </a:prstGeom>
          <a:solidFill>
            <a:srgbClr val="1E2D4A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971800"/>
            <a:ext cx="41148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308152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440680" y="3108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Recharge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36576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Redeem earned points directly for prepaid recharges. Practical, instant gratification that drives daily app engagement.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Consent-first architecture: All third-party links require explicit opt-in via Account Aggregator framework (SEBI &amp; RBI compliant)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SOCIAL &amp; COMMUNITY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389120" cy="86868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54864" cy="8686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515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10332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Codes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friends → both earn XP &amp; bonus points. Viral growth loop built in.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965960"/>
            <a:ext cx="4389120" cy="86868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965960"/>
            <a:ext cx="54864" cy="8686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0574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20391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Milestones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423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group hits a collective savings target, everyone earns a bonus reward.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4389120" cy="86868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" y="2971800"/>
            <a:ext cx="54864" cy="8686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0632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💖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05840" y="30449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Charity Donations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429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Donate points to partner NGOs/charities — finance meets social good.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977640"/>
            <a:ext cx="4389120" cy="86868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0" name="Shape 18"/>
          <p:cNvSpPr/>
          <p:nvPr/>
        </p:nvSpPr>
        <p:spPr>
          <a:xfrm>
            <a:off x="274320" y="3977640"/>
            <a:ext cx="54864" cy="8686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40690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🦸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05840" y="40507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Avatars &amp; Titles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434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avatars that evolve with your saving discipline. Show off your 'Iron Saver' status.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0" y="960120"/>
            <a:ext cx="3749040" cy="192024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0" y="960120"/>
            <a:ext cx="374904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0" y="107899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Daily Achievement Showcase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20640" y="15544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day, the top saver gets featured on the group feed. Creates daily motivation, friendly envy, and repeat opens.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0" y="2971800"/>
            <a:ext cx="3749040" cy="182880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9" name="Shape 27"/>
          <p:cNvSpPr/>
          <p:nvPr/>
        </p:nvSpPr>
        <p:spPr>
          <a:xfrm>
            <a:off x="5029200" y="2971800"/>
            <a:ext cx="374904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0" name="Text 28"/>
          <p:cNvSpPr/>
          <p:nvPr/>
        </p:nvSpPr>
        <p:spPr>
          <a:xfrm>
            <a:off x="5120640" y="309067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⌚ Fitness + Smartwatch Sync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120640" y="356616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you walk, the more you save? Connect Apple Watch / Fitbit. Physical discipline = financial discipline. Multiplier bonuses for active users.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8B8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 &amp;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82880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6984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React Native (iOS + Android)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8105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Expo for rapid prototyping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1122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Reanimated for smooth animations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41401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Redux for state management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960120"/>
            <a:ext cx="4114800" cy="182880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12" name="Shape 10"/>
          <p:cNvSpPr/>
          <p:nvPr/>
        </p:nvSpPr>
        <p:spPr>
          <a:xfrm>
            <a:off x="4709160" y="960120"/>
            <a:ext cx="41148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06984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15087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Node.js + Express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92040" y="18105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Firebase Realtime DB (leaderboard)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92040" y="21122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PostgreSQL (user/financial data)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92040" y="241401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Redis (caching &amp; sessions)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4114800" cy="182880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" y="2971800"/>
            <a:ext cx="41148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30815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INTEGRATIONS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5204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Setu / Finvu (Account Aggregator)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38221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UPI deep links for payments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12394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Zerodha / Groww API (consent-based)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4256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Twilio / MSG91 (OTP auth)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2971800"/>
            <a:ext cx="4114800" cy="182880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6" name="Shape 24"/>
          <p:cNvSpPr/>
          <p:nvPr/>
        </p:nvSpPr>
        <p:spPr>
          <a:xfrm>
            <a:off x="4709160" y="2971800"/>
            <a:ext cx="4114800" cy="54864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0815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8B8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/ ML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92040" y="35204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Python FastAPI (ML microservice)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92040" y="38221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Spending categorization (NLP)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92040" y="412394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Budget prediction model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92040" y="44256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Anomaly detection alerts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HACKATHON BUILD PLAN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920240" cy="5029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05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0–8 hrs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1920240" cy="320040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554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0574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User auth (OTP)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6517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Expense input + categories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3246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Budget goal setup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3840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Basic UI/UX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23160" y="960120"/>
            <a:ext cx="1920240" cy="5029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2423160" y="1005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8–20 hrs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23160" y="1463040"/>
            <a:ext cx="1920240" cy="320040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15" name="Text 13"/>
          <p:cNvSpPr/>
          <p:nvPr/>
        </p:nvSpPr>
        <p:spPr>
          <a:xfrm>
            <a:off x="2423160" y="1554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Game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14600" y="20574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Points engine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14600" y="26517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Weekly challenge logic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14600" y="3246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Streak tracking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14600" y="3840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Group creation &amp; invite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960120"/>
            <a:ext cx="1920240" cy="502920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1005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20–30 hrs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1463040"/>
            <a:ext cx="1920240" cy="320040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0" y="1554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8B8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63440" y="20574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Leaderboard (Firebase)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63440" y="26517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Referral codes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63440" y="3246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Notifications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63440" y="3840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Avatar system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20840" y="960120"/>
            <a:ext cx="1920240" cy="5029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9" name="Text 27"/>
          <p:cNvSpPr/>
          <p:nvPr/>
        </p:nvSpPr>
        <p:spPr>
          <a:xfrm>
            <a:off x="6720840" y="1005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30–36 hrs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20840" y="1463040"/>
            <a:ext cx="1920240" cy="320040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31" name="Text 29"/>
          <p:cNvSpPr/>
          <p:nvPr/>
        </p:nvSpPr>
        <p:spPr>
          <a:xfrm>
            <a:off x="6720840" y="1554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Wow Factor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12280" y="20574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AI spending insights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12280" y="26517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Scratchcard reward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12280" y="3246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Demo polish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12280" y="3840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Pitch prep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Focus: Auth → Expense Input → Points → Leaderboard → 1 Challenge type. Get core loop working first.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82880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6984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💎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5840" y="11247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Subscription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67335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₹99/month for unlimited groups, advanced AI insights, custom challenges &amp; exclusive rewards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14800" cy="182880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960120"/>
            <a:ext cx="41148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106984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440680" y="11247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Partnerships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67335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sponsor weekly challenges — 'Save ₹500 this week, win Zomato credits' — performance-based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4114800" cy="182880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" y="2971800"/>
            <a:ext cx="4114800" cy="54864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308152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🏦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005840" y="31363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 Commission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368503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 from NBFC/bank partners when users open Fixed Deposits through the app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971800"/>
            <a:ext cx="4114800" cy="182880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0" name="Shape 18"/>
          <p:cNvSpPr/>
          <p:nvPr/>
        </p:nvSpPr>
        <p:spPr>
          <a:xfrm>
            <a:off x="4709160" y="2971800"/>
            <a:ext cx="41148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308152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440680" y="31363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Affiliate Investments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68503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from Zerodha/Groww/Paytm Money for investment conversions via consent-based referrals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697480" cy="182880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269748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51560"/>
            <a:ext cx="640080" cy="274320"/>
          </a:xfrm>
          <a:prstGeom prst="roundRect">
            <a:avLst>
              <a:gd name="adj" fmla="val 16667"/>
            </a:avLst>
          </a:prstGeom>
          <a:solidFill>
            <a:srgbClr val="E94560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515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V2.0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13716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19659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Wellness Programs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3774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HR teams to offer Expense Battle as an employee financial wellness benefit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0" y="960120"/>
            <a:ext cx="2697480" cy="182880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0" y="960120"/>
            <a:ext cx="269748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Shape 11"/>
          <p:cNvSpPr/>
          <p:nvPr/>
        </p:nvSpPr>
        <p:spPr>
          <a:xfrm>
            <a:off x="3291840" y="1051560"/>
            <a:ext cx="640080" cy="274320"/>
          </a:xfrm>
          <a:prstGeom prst="roundRect">
            <a:avLst>
              <a:gd name="adj" fmla="val 16667"/>
            </a:avLst>
          </a:prstGeom>
          <a:solidFill>
            <a:srgbClr val="F5A623">
              <a:alpha val="5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0515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V2.0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00400" y="13716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🏫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291840" y="19659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Version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23774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 version for college students with hostel-budget challenges and peer groups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26480" y="960120"/>
            <a:ext cx="2697480" cy="182880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19" name="Shape 17"/>
          <p:cNvSpPr/>
          <p:nvPr/>
        </p:nvSpPr>
        <p:spPr>
          <a:xfrm>
            <a:off x="6126480" y="960120"/>
            <a:ext cx="2697480" cy="54864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0" y="1051560"/>
            <a:ext cx="640080" cy="274320"/>
          </a:xfrm>
          <a:prstGeom prst="roundRect">
            <a:avLst>
              <a:gd name="adj" fmla="val 16667"/>
            </a:avLst>
          </a:prstGeom>
          <a:solidFill>
            <a:srgbClr val="0F8B8D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10515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V3.0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126480" y="13716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217920" y="19659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Expansion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23774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Multi-currency support. Southeast Asia, Africa — markets with low financial literacy and high smartphone penetration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2926080"/>
            <a:ext cx="2697480" cy="182880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" y="2926080"/>
            <a:ext cx="269748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7" name="Shape 25"/>
          <p:cNvSpPr/>
          <p:nvPr/>
        </p:nvSpPr>
        <p:spPr>
          <a:xfrm>
            <a:off x="365760" y="3017520"/>
            <a:ext cx="640080" cy="274320"/>
          </a:xfrm>
          <a:prstGeom prst="roundRect">
            <a:avLst>
              <a:gd name="adj" fmla="val 16667"/>
            </a:avLst>
          </a:prstGeom>
          <a:solidFill>
            <a:srgbClr val="06D6A0">
              <a:alpha val="5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3017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V3.0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74320" y="33375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🪙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65760" y="39319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Micro-Investments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4343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Round-up savings to invest in gold, crypto, or index funds — fully automated with one tap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0" y="2926080"/>
            <a:ext cx="2697480" cy="182880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33" name="Shape 31"/>
          <p:cNvSpPr/>
          <p:nvPr/>
        </p:nvSpPr>
        <p:spPr>
          <a:xfrm>
            <a:off x="3200400" y="2926080"/>
            <a:ext cx="269748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4" name="Shape 32"/>
          <p:cNvSpPr/>
          <p:nvPr/>
        </p:nvSpPr>
        <p:spPr>
          <a:xfrm>
            <a:off x="3291840" y="3017520"/>
            <a:ext cx="640080" cy="274320"/>
          </a:xfrm>
          <a:prstGeom prst="roundRect">
            <a:avLst>
              <a:gd name="adj" fmla="val 16667"/>
            </a:avLst>
          </a:prstGeom>
          <a:solidFill>
            <a:srgbClr val="E94560">
              <a:alpha val="5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3291840" y="3017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V4.0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200400" y="33375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🏦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3291840" y="39319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Expense Battle Bank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291840" y="4343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neo-bank: savings account, debit card with cashback tied to your loyalty level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126480" y="2926080"/>
            <a:ext cx="2697480" cy="182880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40" name="Shape 38"/>
          <p:cNvSpPr/>
          <p:nvPr/>
        </p:nvSpPr>
        <p:spPr>
          <a:xfrm>
            <a:off x="6126480" y="2926080"/>
            <a:ext cx="269748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1" name="Shape 39"/>
          <p:cNvSpPr/>
          <p:nvPr/>
        </p:nvSpPr>
        <p:spPr>
          <a:xfrm>
            <a:off x="6217920" y="3017520"/>
            <a:ext cx="640080" cy="274320"/>
          </a:xfrm>
          <a:prstGeom prst="roundRect">
            <a:avLst>
              <a:gd name="adj" fmla="val 16667"/>
            </a:avLst>
          </a:prstGeom>
          <a:solidFill>
            <a:srgbClr val="F5A623">
              <a:alpha val="5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217920" y="3017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V4.0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126480" y="33375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217920" y="39319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NGO &amp; Govt Tie-ups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217920" y="4343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literacy programs for rural areas, with government-backed reward programs for participation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1E2D4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E2D4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0" y="4572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🏆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371600" y="19202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6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EXPENSE BATTLE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828800" y="2834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Compete. Save. Win.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more you save, the smarter the app becomes.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1: Gamifying Finance &amp; Financial Education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Expense Battle - Pitch Deck</dc:title>
  <dc:subject>PptxGenJS Presentation</dc:subject>
  <dc:creator>PptxGenJS</dc:creator>
  <cp:lastModifiedBy>PptxGenJS</cp:lastModifiedBy>
  <cp:revision>1</cp:revision>
  <dcterms:created xsi:type="dcterms:W3CDTF">2026-03-13T12:54:22Z</dcterms:created>
  <dcterms:modified xsi:type="dcterms:W3CDTF">2026-03-13T12:54:22Z</dcterms:modified>
</cp:coreProperties>
</file>